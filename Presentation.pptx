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  <p:sldId id="266" r:id="rId9"/>
    <p:sldId id="267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8F8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70" autoAdjust="0"/>
  </p:normalViewPr>
  <p:slideViewPr>
    <p:cSldViewPr snapToGrid="0" snapToObjects="1">
      <p:cViewPr>
        <p:scale>
          <a:sx n="130" d="100"/>
          <a:sy n="130" d="100"/>
        </p:scale>
        <p:origin x="-472" y="8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interSettings" Target="printerSettings/printerSettings1.bin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C4BBDA-57CD-514E-868A-A61DF21B5C01}" type="datetime1">
              <a:rPr lang="en-US" smtClean="0"/>
              <a:t>5/28/14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["Hip", "Hip"]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430FBB-EF75-074A-BB63-21F781FC7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98974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CA1505-2999-F845-A5AC-54DA91652901}" type="datetime1">
              <a:rPr lang="en-US" smtClean="0"/>
              <a:t>5/28/14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["Hip", "Hip"]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F4F1EE-3F70-D84D-8F08-CAFD81CFC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79680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F4F1EE-3F70-D84D-8F08-CAFD81CFC45F}" type="slidenum">
              <a:rPr lang="en-US" smtClean="0"/>
              <a:t>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["Hip", "Hip"]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052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86953" y="268288"/>
            <a:ext cx="5669280" cy="3900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68940" y="268288"/>
            <a:ext cx="182880" cy="388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00400" y="4208929"/>
            <a:ext cx="5458968" cy="1048684"/>
          </a:xfr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0" y="5257800"/>
            <a:ext cx="5458968" cy="62179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Clr>
                <a:schemeClr val="accent1"/>
              </a:buClr>
              <a:buSzPct val="100000"/>
              <a:buFont typeface="Wingdings 2" pitchFamily="18" charset="2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76600" y="390525"/>
            <a:ext cx="5504688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2200" b="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3AA81E7B-232A-AA4A-9447-DBCF165B34F1}" type="datetime1">
              <a:rPr lang="en-US" smtClean="0"/>
              <a:t>5/28/14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18688" y="6356350"/>
            <a:ext cx="4736592" cy="365125"/>
          </a:xfr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6494" y="6356350"/>
            <a:ext cx="685800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BFEBEB0A-9E3D-4B14-9782-E2AE3DA60D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212106" y="268288"/>
            <a:ext cx="1645920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12106" y="6356350"/>
            <a:ext cx="1752600" cy="365125"/>
          </a:xfrm>
        </p:spPr>
        <p:txBody>
          <a:bodyPr/>
          <a:lstStyle/>
          <a:p>
            <a:fld id="{4E510663-062D-E94D-9256-818C6DA09FE7}" type="datetime1">
              <a:rPr lang="en-US" smtClean="0"/>
              <a:t>5/28/14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86953" y="268288"/>
            <a:ext cx="5669280" cy="2560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00399" y="4171950"/>
            <a:ext cx="5457919" cy="1085850"/>
          </a:xfrm>
        </p:spPr>
        <p:txBody>
          <a:bodyPr>
            <a:normAutofit/>
          </a:bodyPr>
          <a:lstStyle>
            <a:lvl1pPr>
              <a:defRPr sz="46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1" y="5257799"/>
            <a:ext cx="5457918" cy="618565"/>
          </a:xfrm>
        </p:spPr>
        <p:txBody>
          <a:bodyPr>
            <a:normAutofit/>
          </a:bodyPr>
          <a:lstStyle>
            <a:lvl1pPr marL="0" indent="0" algn="l">
              <a:spcBef>
                <a:spcPct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spcBef>
                <a:spcPct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76600" y="389965"/>
            <a:ext cx="5499847" cy="365125"/>
          </a:xfrm>
        </p:spPr>
        <p:txBody>
          <a:bodyPr/>
          <a:lstStyle>
            <a:lvl1pPr>
              <a:defRPr sz="2200" b="0" baseline="0">
                <a:solidFill>
                  <a:schemeClr val="bg1"/>
                </a:solidFill>
              </a:defRPr>
            </a:lvl1pPr>
          </a:lstStyle>
          <a:p>
            <a:fld id="{174126CC-8DD0-C94B-8755-FD64DED30152}" type="datetime1">
              <a:rPr lang="en-US" smtClean="0"/>
              <a:t>5/28/14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13847" y="6356350"/>
            <a:ext cx="473411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65459" y="6356350"/>
            <a:ext cx="685800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3200400" y="2877671"/>
            <a:ext cx="5646867" cy="128016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68940" y="268288"/>
            <a:ext cx="182880" cy="388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,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9875" y="268288"/>
            <a:ext cx="1645920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8423" y="914400"/>
            <a:ext cx="6508377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8423" y="2209800"/>
            <a:ext cx="6508377" cy="3916363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12106" y="6356350"/>
            <a:ext cx="1752600" cy="365125"/>
          </a:xfrm>
        </p:spPr>
        <p:txBody>
          <a:bodyPr/>
          <a:lstStyle/>
          <a:p>
            <a:fld id="{BE746BBF-5696-164F-8C84-D1E504467B51}" type="datetime1">
              <a:rPr lang="en-US" smtClean="0"/>
              <a:t>5/28/14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78423" y="6356350"/>
            <a:ext cx="492685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31694" y="361016"/>
            <a:ext cx="506506" cy="365125"/>
          </a:xfrm>
        </p:spPr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269875" y="1976718"/>
            <a:ext cx="1645920" cy="46257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758952" y="268288"/>
            <a:ext cx="1099073" cy="635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1" y="3429000"/>
            <a:ext cx="4966446" cy="1398494"/>
          </a:xfrm>
        </p:spPr>
        <p:txBody>
          <a:bodyPr anchor="b" anchorCtr="0"/>
          <a:lstStyle>
            <a:lvl1pPr algn="r">
              <a:defRPr sz="4600" b="0" cap="none" baseline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9801" y="4824414"/>
            <a:ext cx="4966446" cy="1320800"/>
          </a:xfrm>
        </p:spPr>
        <p:txBody>
          <a:bodyPr anchor="t" anchorCtr="0">
            <a:normAutofit/>
          </a:bodyPr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600" y="6356350"/>
            <a:ext cx="1622612" cy="365125"/>
          </a:xfrm>
        </p:spPr>
        <p:txBody>
          <a:bodyPr/>
          <a:lstStyle/>
          <a:p>
            <a:fld id="{85D75F9A-0E7E-9B4A-B070-992FEC010B8F}" type="datetime1">
              <a:rPr lang="en-US" smtClean="0"/>
              <a:t>5/28/14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4812" y="6356350"/>
            <a:ext cx="531158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9875" y="4773706"/>
            <a:ext cx="2971800" cy="18445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354" y="3429001"/>
            <a:ext cx="4966446" cy="1398494"/>
          </a:xfrm>
        </p:spPr>
        <p:txBody>
          <a:bodyPr anchor="b" anchorCtr="0"/>
          <a:lstStyle>
            <a:lvl1pPr algn="r">
              <a:defRPr sz="4600" b="0" cap="none" baseline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20354" y="4824414"/>
            <a:ext cx="4966446" cy="1320800"/>
          </a:xfrm>
        </p:spPr>
        <p:txBody>
          <a:bodyPr anchor="t" anchorCtr="0">
            <a:normAutofit/>
          </a:bodyPr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51212" y="6104965"/>
            <a:ext cx="506506" cy="365125"/>
          </a:xfrm>
        </p:spPr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269874" y="268288"/>
            <a:ext cx="2971800" cy="443865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7391401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14563"/>
            <a:ext cx="356616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82440" y="2214563"/>
            <a:ext cx="356616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AD58D-0828-1C49-A562-8C33A77EA078}" type="datetime1">
              <a:rPr lang="en-US" smtClean="0"/>
              <a:t>5/28/14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7388352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054132"/>
            <a:ext cx="356616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ct val="0"/>
              </a:spcBef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689411"/>
            <a:ext cx="3566160" cy="343675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79391" y="2054132"/>
            <a:ext cx="356616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ct val="0"/>
              </a:spcBef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79391" y="2689411"/>
            <a:ext cx="3566160" cy="343675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384E1-0D3C-984C-87E8-97B8B0220EEF}" type="datetime1">
              <a:rPr lang="en-US" smtClean="0"/>
              <a:t>5/28/14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7391401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199" y="2214562"/>
            <a:ext cx="7396163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4886B-2A36-B548-A6C2-79D030F0437B}" type="datetime1">
              <a:rPr lang="en-US" smtClean="0"/>
              <a:t>5/28/14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457199" y="4224973"/>
            <a:ext cx="7396163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7391401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82440" y="2214562"/>
            <a:ext cx="356616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2F003-EC0D-0D49-9D10-77EBA89688DA}" type="datetime1">
              <a:rPr lang="en-US" smtClean="0"/>
              <a:t>5/28/14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4282440" y="4224973"/>
            <a:ext cx="356616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4"/>
          </p:nvPr>
        </p:nvSpPr>
        <p:spPr>
          <a:xfrm>
            <a:off x="457200" y="2214563"/>
            <a:ext cx="356616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7391401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82440" y="2214562"/>
            <a:ext cx="356616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8A375-F04B-D445-9B3E-870CFD007D91}" type="datetime1">
              <a:rPr lang="en-US" smtClean="0"/>
              <a:t>5/28/14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4282440" y="4224973"/>
            <a:ext cx="356616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11" name="Content Placeholder 2"/>
          <p:cNvSpPr>
            <a:spLocks noGrp="1"/>
          </p:cNvSpPr>
          <p:nvPr>
            <p:ph sz="half" idx="14"/>
          </p:nvPr>
        </p:nvSpPr>
        <p:spPr>
          <a:xfrm>
            <a:off x="457200" y="2214562"/>
            <a:ext cx="356616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12" name="Content Placeholder 2"/>
          <p:cNvSpPr>
            <a:spLocks noGrp="1"/>
          </p:cNvSpPr>
          <p:nvPr>
            <p:ph sz="half" idx="15"/>
          </p:nvPr>
        </p:nvSpPr>
        <p:spPr>
          <a:xfrm>
            <a:off x="457200" y="4224973"/>
            <a:ext cx="356616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F755C-69FC-1F44-ACC7-335F65E19D08}" type="datetime1">
              <a:rPr lang="en-US" smtClean="0"/>
              <a:t>5/28/14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148918" y="268288"/>
            <a:ext cx="718073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74C9A-B0C6-C341-929C-C7A0ACC05466}" type="datetime1">
              <a:rPr lang="en-US" smtClean="0"/>
              <a:t>5/28/14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48918" y="268288"/>
            <a:ext cx="718073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95082"/>
            <a:ext cx="3566160" cy="1035424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2052" y="990600"/>
            <a:ext cx="3566160" cy="51355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199" y="2057400"/>
            <a:ext cx="3566160" cy="3657601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8B178-C234-6C4E-AEC0-458727316939}" type="datetime1">
              <a:rPr lang="en-US" smtClean="0"/>
              <a:t>5/28/14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746811" y="268288"/>
            <a:ext cx="4114800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95082"/>
            <a:ext cx="3566160" cy="1035424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199" y="2057400"/>
            <a:ext cx="3566160" cy="3657601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1365" y="6124014"/>
            <a:ext cx="1752600" cy="365125"/>
          </a:xfrm>
        </p:spPr>
        <p:txBody>
          <a:bodyPr/>
          <a:lstStyle>
            <a:lvl1pPr algn="l">
              <a:defRPr/>
            </a:lvl1pPr>
          </a:lstStyle>
          <a:p>
            <a:fld id="{E89CC547-A2C2-AB4C-AA12-DA0096DAC858}" type="datetime1">
              <a:rPr lang="en-US" smtClean="0"/>
              <a:t>5/28/14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4812" y="6356350"/>
            <a:ext cx="386378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760258" y="990600"/>
            <a:ext cx="4096512" cy="561181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216775" y="268288"/>
            <a:ext cx="1639457" cy="36393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788" y="4267200"/>
            <a:ext cx="6477000" cy="566738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69874" y="268288"/>
            <a:ext cx="6858000" cy="36393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8788" y="4840941"/>
            <a:ext cx="6475412" cy="130427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613A4-74DC-634D-BAED-16BBCAC80285}" type="datetime1">
              <a:rPr lang="en-US" smtClean="0"/>
              <a:t>5/28/14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4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35471" y="268288"/>
            <a:ext cx="720761" cy="36393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788" y="4267200"/>
            <a:ext cx="6477000" cy="566738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69874" y="268288"/>
            <a:ext cx="3006726" cy="36393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8788" y="4840941"/>
            <a:ext cx="6475412" cy="130427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27C9C-88A1-BD4E-AC24-466F8A517FA5}" type="datetime1">
              <a:rPr lang="en-US" smtClean="0"/>
              <a:t>5/28/14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idx="13"/>
          </p:nvPr>
        </p:nvSpPr>
        <p:spPr>
          <a:xfrm>
            <a:off x="3352800" y="268288"/>
            <a:ext cx="4701988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  <p:sp>
        <p:nvSpPr>
          <p:cNvPr id="11" name="Picture Placeholder 2"/>
          <p:cNvSpPr>
            <a:spLocks noGrp="1"/>
          </p:cNvSpPr>
          <p:nvPr>
            <p:ph type="pic" idx="14"/>
          </p:nvPr>
        </p:nvSpPr>
        <p:spPr>
          <a:xfrm>
            <a:off x="3352800" y="2131935"/>
            <a:ext cx="2304288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  <p:sp>
        <p:nvSpPr>
          <p:cNvPr id="12" name="Picture Placeholder 2"/>
          <p:cNvSpPr>
            <a:spLocks noGrp="1"/>
          </p:cNvSpPr>
          <p:nvPr>
            <p:ph type="pic" idx="15"/>
          </p:nvPr>
        </p:nvSpPr>
        <p:spPr>
          <a:xfrm>
            <a:off x="5750500" y="2131935"/>
            <a:ext cx="2304288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212106" y="268288"/>
            <a:ext cx="1645920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FF0D7-005C-FE46-9AF1-895C6D74068B}" type="datetime1">
              <a:rPr lang="en-US" smtClean="0"/>
              <a:t>5/28/14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48918" y="268288"/>
            <a:ext cx="718073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43799" y="1035424"/>
            <a:ext cx="1322295" cy="5090739"/>
          </a:xfrm>
        </p:spPr>
        <p:txBody>
          <a:bodyPr vert="eaVert" anchor="t" anchorCtr="0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035424"/>
            <a:ext cx="6019800" cy="5109789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02B5A-D6FC-AD42-A346-CA17B330CC54}" type="datetime1">
              <a:rPr lang="en-US" smtClean="0"/>
              <a:t>5/28/14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20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6508377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199" y="2209800"/>
            <a:ext cx="6508377" cy="3916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8659" y="6356350"/>
            <a:ext cx="1752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80950D53-001D-2342-AD40-EA920BBC5333}" type="datetime1">
              <a:rPr lang="en-US" smtClean="0"/>
              <a:t>5/28/14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4812" y="6356350"/>
            <a:ext cx="6007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56494" y="361016"/>
            <a:ext cx="5065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00" b="1">
                <a:solidFill>
                  <a:schemeClr val="bg1"/>
                </a:solidFill>
              </a:defRPr>
            </a:lvl1pPr>
          </a:lstStyle>
          <a:p>
            <a:fld id="{BFEBEB0A-9E3D-4B14-9782-E2AE3DA60D9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ts val="1800"/>
        </a:spcBef>
        <a:buClr>
          <a:schemeClr val="accent1"/>
        </a:buClr>
        <a:buSzPct val="100000"/>
        <a:buFont typeface="Wingdings 2" pitchFamily="18" charset="2"/>
        <a:buChar char="¡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spcBef>
          <a:spcPts val="600"/>
        </a:spcBef>
        <a:buClr>
          <a:schemeClr val="accent1"/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spcBef>
          <a:spcPts val="600"/>
        </a:spcBef>
        <a:buClr>
          <a:schemeClr val="accent1"/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1377950" indent="-228600" algn="l" defTabSz="914400" rtl="0" eaLnBrk="1" latinLnBrk="0" hangingPunct="1">
        <a:spcBef>
          <a:spcPct val="20000"/>
        </a:spcBef>
        <a:buClr>
          <a:schemeClr val="accent1">
            <a:lumMod val="50000"/>
          </a:schemeClr>
        </a:buClr>
        <a:buFont typeface="Wingdings 2" pitchFamily="18" charset="2"/>
        <a:buChar char=""/>
        <a:defRPr lang="en-US" sz="1800" kern="1200" dirty="0" smtClean="0">
          <a:solidFill>
            <a:schemeClr val="tx2"/>
          </a:solidFill>
          <a:latin typeface="+mn-lt"/>
          <a:ea typeface="+mn-ea"/>
          <a:cs typeface="+mn-cs"/>
        </a:defRPr>
      </a:lvl6pPr>
      <a:lvl7pPr marL="1603375" indent="-228600" algn="l" defTabSz="914400" rtl="0" eaLnBrk="1" latinLnBrk="0" hangingPunct="1">
        <a:spcBef>
          <a:spcPct val="20000"/>
        </a:spcBef>
        <a:buClr>
          <a:schemeClr val="accent1"/>
        </a:buClr>
        <a:buFont typeface="Wingdings 2" pitchFamily="18" charset="2"/>
        <a:buChar char=""/>
        <a:defRPr lang="en-US" sz="1800" kern="1200" dirty="0" smtClean="0">
          <a:solidFill>
            <a:schemeClr val="tx2"/>
          </a:solidFill>
          <a:latin typeface="+mn-lt"/>
          <a:ea typeface="+mn-ea"/>
          <a:cs typeface="+mn-cs"/>
        </a:defRPr>
      </a:lvl7pPr>
      <a:lvl8pPr marL="1830388" indent="-228600" algn="l" defTabSz="914400" rtl="0" eaLnBrk="1" latinLnBrk="0" hangingPunct="1">
        <a:spcBef>
          <a:spcPct val="20000"/>
        </a:spcBef>
        <a:buClr>
          <a:schemeClr val="accent1">
            <a:lumMod val="50000"/>
          </a:schemeClr>
        </a:buClr>
        <a:buFont typeface="Wingdings 2" pitchFamily="18" charset="2"/>
        <a:buChar char=""/>
        <a:defRPr lang="en-US" sz="1800" kern="1200" dirty="0" smtClean="0">
          <a:solidFill>
            <a:schemeClr val="tx2"/>
          </a:solidFill>
          <a:latin typeface="+mn-lt"/>
          <a:ea typeface="+mn-ea"/>
          <a:cs typeface="+mn-cs"/>
        </a:defRPr>
      </a:lvl8pPr>
      <a:lvl9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Wingdings 2" pitchFamily="18" charset="2"/>
        <a:buChar char=""/>
        <a:defRPr lang="en-US" sz="1800" kern="1200" dirty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[“Hip”, “Hip”]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Ethan Yu, </a:t>
            </a:r>
            <a:r>
              <a:rPr lang="en-US" dirty="0" err="1" smtClean="0"/>
              <a:t>Shuyang</a:t>
            </a:r>
            <a:r>
              <a:rPr lang="en-US" dirty="0" smtClean="0"/>
              <a:t> Fang, Charles Dong, Peter </a:t>
            </a:r>
            <a:r>
              <a:rPr lang="en-US" dirty="0" err="1" smtClean="0"/>
              <a:t>Saisi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43799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dirty="0" err="1" smtClean="0"/>
              <a:t>DartSync</a:t>
            </a:r>
            <a:r>
              <a:rPr lang="en-US" sz="3400" dirty="0" smtClean="0"/>
              <a:t> Executive Summary</a:t>
            </a:r>
            <a:endParaRPr lang="en-US" sz="3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2209800"/>
            <a:ext cx="6508377" cy="3916363"/>
          </a:xfrm>
        </p:spPr>
        <p:txBody>
          <a:bodyPr/>
          <a:lstStyle/>
          <a:p>
            <a:r>
              <a:rPr lang="en-US" sz="2400" dirty="0" smtClean="0"/>
              <a:t>Lightweight </a:t>
            </a:r>
            <a:r>
              <a:rPr lang="en-US" sz="2400" dirty="0"/>
              <a:t>distributed </a:t>
            </a:r>
            <a:r>
              <a:rPr lang="en-US" sz="2400" dirty="0" smtClean="0"/>
              <a:t>P2P sync</a:t>
            </a:r>
            <a:r>
              <a:rPr lang="en-US" sz="2400" dirty="0"/>
              <a:t>-and-share with local file exchange and synchronization across </a:t>
            </a:r>
            <a:r>
              <a:rPr lang="en-US" sz="2400" dirty="0" err="1" smtClean="0"/>
              <a:t>iOS</a:t>
            </a:r>
            <a:r>
              <a:rPr lang="en-US" sz="2400" dirty="0" smtClean="0"/>
              <a:t>, </a:t>
            </a:r>
            <a:r>
              <a:rPr lang="en-US" sz="2400" dirty="0" smtClean="0"/>
              <a:t>Android, Mac</a:t>
            </a:r>
            <a:r>
              <a:rPr lang="en-US" sz="2400" dirty="0"/>
              <a:t>, and Linux </a:t>
            </a:r>
            <a:r>
              <a:rPr lang="en-US" sz="2400" dirty="0" smtClean="0"/>
              <a:t>devices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6266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Feature List</a:t>
            </a:r>
            <a:endParaRPr lang="en-US" dirty="0"/>
          </a:p>
        </p:txBody>
      </p:sp>
      <p:sp>
        <p:nvSpPr>
          <p:cNvPr id="4" name="Content Placeholder 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228600" indent="-228600" algn="l" defTabSz="914400" rtl="0" eaLnBrk="1" latinLnBrk="0" hangingPunct="1">
              <a:spcBef>
                <a:spcPts val="1800"/>
              </a:spcBef>
              <a:buClr>
                <a:schemeClr val="accent1"/>
              </a:buClr>
              <a:buSzPct val="100000"/>
              <a:buFont typeface="Wingdings 2" pitchFamily="18" charset="2"/>
              <a:buChar char="¡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SzPct val="100000"/>
              <a:buFont typeface="Wingdings 2" pitchFamily="18" charset="2"/>
              <a:buChar char="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 2" pitchFamily="18" charset="2"/>
              <a:buChar char="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SzPct val="100000"/>
              <a:buFont typeface="Wingdings 2" pitchFamily="18" charset="2"/>
              <a:buChar char="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 2" pitchFamily="18" charset="2"/>
              <a:buChar char="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37795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"/>
              <a:defRPr lang="en-US" sz="1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603375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"/>
              <a:defRPr lang="en-US" sz="1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830388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"/>
              <a:defRPr lang="en-US" sz="1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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C implementation</a:t>
            </a:r>
          </a:p>
          <a:p>
            <a:pPr lvl="1"/>
            <a:r>
              <a:rPr lang="en-US" dirty="0" smtClean="0"/>
              <a:t>Objective-C for </a:t>
            </a:r>
            <a:r>
              <a:rPr lang="en-US" dirty="0" err="1" smtClean="0"/>
              <a:t>iOS</a:t>
            </a:r>
            <a:endParaRPr lang="en-US" dirty="0" smtClean="0"/>
          </a:p>
          <a:p>
            <a:pPr lvl="1"/>
            <a:r>
              <a:rPr lang="en-US" dirty="0" smtClean="0"/>
              <a:t>Ruby on Rails for web</a:t>
            </a:r>
          </a:p>
          <a:p>
            <a:r>
              <a:rPr lang="en-US" dirty="0" smtClean="0"/>
              <a:t>TCP Connection and Data Transfer</a:t>
            </a:r>
          </a:p>
          <a:p>
            <a:r>
              <a:rPr lang="en-US" dirty="0" smtClean="0"/>
              <a:t>Recursive file </a:t>
            </a:r>
            <a:r>
              <a:rPr lang="en-US" dirty="0"/>
              <a:t>m</a:t>
            </a:r>
            <a:r>
              <a:rPr lang="en-US" dirty="0" smtClean="0"/>
              <a:t>onitoring and </a:t>
            </a:r>
            <a:r>
              <a:rPr lang="en-US" dirty="0" smtClean="0"/>
              <a:t>synchronization</a:t>
            </a:r>
          </a:p>
          <a:p>
            <a:pPr lvl="1"/>
            <a:r>
              <a:rPr lang="en-US" dirty="0" smtClean="0"/>
              <a:t>Supports large files</a:t>
            </a:r>
          </a:p>
          <a:p>
            <a:pPr lvl="1"/>
            <a:r>
              <a:rPr lang="en-US" dirty="0" smtClean="0"/>
              <a:t>*nix independent (works on OS X and </a:t>
            </a:r>
            <a:r>
              <a:rPr lang="en-US" dirty="0" err="1" smtClean="0"/>
              <a:t>linux</a:t>
            </a:r>
            <a:r>
              <a:rPr lang="en-US" dirty="0" smtClean="0"/>
              <a:t>)</a:t>
            </a:r>
            <a:endParaRPr lang="en-US" dirty="0" smtClean="0"/>
          </a:p>
          <a:p>
            <a:r>
              <a:rPr lang="en-US" dirty="0" smtClean="0"/>
              <a:t>Delta file updates</a:t>
            </a:r>
          </a:p>
          <a:p>
            <a:r>
              <a:rPr lang="en-US" dirty="0" smtClean="0"/>
              <a:t>Obtaining data in pieces from all live peers</a:t>
            </a:r>
          </a:p>
          <a:p>
            <a:r>
              <a:rPr lang="en-US" dirty="0" smtClean="0"/>
              <a:t>De/compression and de/encryption</a:t>
            </a:r>
          </a:p>
          <a:p>
            <a:r>
              <a:rPr lang="en-US" dirty="0" smtClean="0"/>
              <a:t>Password authentication</a:t>
            </a:r>
          </a:p>
          <a:p>
            <a:r>
              <a:rPr lang="en-US" dirty="0" smtClean="0"/>
              <a:t>Version control</a:t>
            </a:r>
          </a:p>
          <a:p>
            <a:r>
              <a:rPr lang="en-US" dirty="0" smtClean="0"/>
              <a:t>Raspberry Pi tracker support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56217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Peer </a:t>
            </a:r>
            <a:r>
              <a:rPr lang="en-US" dirty="0"/>
              <a:t>Design Synopsis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Tracker Communication</a:t>
            </a:r>
          </a:p>
          <a:p>
            <a:pPr lvl="1"/>
            <a:r>
              <a:rPr lang="en-US" dirty="0" smtClean="0"/>
              <a:t>Authentication</a:t>
            </a:r>
          </a:p>
          <a:p>
            <a:pPr lvl="1"/>
            <a:r>
              <a:rPr lang="en-US" dirty="0" smtClean="0"/>
              <a:t>File Updates: Incoming and Outgoing</a:t>
            </a:r>
            <a:endParaRPr lang="en-US" dirty="0"/>
          </a:p>
          <a:p>
            <a:r>
              <a:rPr lang="en-US" dirty="0" smtClean="0"/>
              <a:t>Monitor local </a:t>
            </a:r>
            <a:r>
              <a:rPr lang="en-US" dirty="0"/>
              <a:t>f</a:t>
            </a:r>
            <a:r>
              <a:rPr lang="en-US" dirty="0" smtClean="0"/>
              <a:t>iles</a:t>
            </a:r>
          </a:p>
          <a:p>
            <a:r>
              <a:rPr lang="en-US" dirty="0" smtClean="0"/>
              <a:t>P2P </a:t>
            </a:r>
            <a:r>
              <a:rPr lang="en-US" dirty="0" smtClean="0"/>
              <a:t>Communication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126676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Tracker Design Synopsis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Listens for new peers and creates handshake threads</a:t>
            </a:r>
          </a:p>
          <a:p>
            <a:r>
              <a:rPr lang="en-US" dirty="0" smtClean="0"/>
              <a:t>Peer-Tracker Communication</a:t>
            </a:r>
          </a:p>
          <a:p>
            <a:pPr lvl="1"/>
            <a:r>
              <a:rPr lang="en-US" dirty="0" smtClean="0"/>
              <a:t>Authentication</a:t>
            </a:r>
          </a:p>
          <a:p>
            <a:pPr lvl="1"/>
            <a:r>
              <a:rPr lang="en-US" dirty="0" smtClean="0"/>
              <a:t>Register</a:t>
            </a:r>
          </a:p>
          <a:p>
            <a:pPr lvl="1"/>
            <a:r>
              <a:rPr lang="en-US" dirty="0" smtClean="0"/>
              <a:t>Keep Alive</a:t>
            </a:r>
          </a:p>
          <a:p>
            <a:pPr lvl="1"/>
            <a:r>
              <a:rPr lang="en-US" dirty="0" smtClean="0"/>
              <a:t>File Update</a:t>
            </a:r>
          </a:p>
          <a:p>
            <a:pPr lvl="1"/>
            <a:r>
              <a:rPr lang="en-US" dirty="0" smtClean="0"/>
              <a:t>Close</a:t>
            </a:r>
            <a:endParaRPr lang="en-US" dirty="0"/>
          </a:p>
          <a:p>
            <a:r>
              <a:rPr lang="en-US" dirty="0" smtClean="0"/>
              <a:t>Raspberry Pi support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8663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File Monitoring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Recursive file </a:t>
            </a:r>
            <a:r>
              <a:rPr lang="en-US" dirty="0" smtClean="0"/>
              <a:t>monitoring of </a:t>
            </a:r>
            <a:r>
              <a:rPr lang="en-US" dirty="0" err="1" smtClean="0"/>
              <a:t>DartSync</a:t>
            </a:r>
            <a:r>
              <a:rPr lang="en-US" dirty="0" smtClean="0"/>
              <a:t> root folder</a:t>
            </a:r>
          </a:p>
          <a:p>
            <a:pPr lvl="1"/>
            <a:r>
              <a:rPr lang="en-US" dirty="0" smtClean="0"/>
              <a:t>New, modified, and deleted files</a:t>
            </a:r>
            <a:endParaRPr lang="en-US" dirty="0"/>
          </a:p>
          <a:p>
            <a:r>
              <a:rPr lang="en-US" dirty="0" smtClean="0"/>
              <a:t>Version Control</a:t>
            </a:r>
          </a:p>
          <a:p>
            <a:pPr lvl="1"/>
            <a:r>
              <a:rPr lang="en-US" dirty="0"/>
              <a:t>Backup </a:t>
            </a:r>
            <a:r>
              <a:rPr lang="en-US" dirty="0" smtClean="0"/>
              <a:t>directory .</a:t>
            </a:r>
            <a:r>
              <a:rPr lang="en-US" dirty="0" err="1" smtClean="0"/>
              <a:t>DartSync</a:t>
            </a:r>
            <a:r>
              <a:rPr lang="en-US" dirty="0" smtClean="0"/>
              <a:t> </a:t>
            </a:r>
            <a:r>
              <a:rPr lang="en-US" dirty="0"/>
              <a:t>for older </a:t>
            </a:r>
            <a:r>
              <a:rPr lang="en-US" dirty="0" smtClean="0"/>
              <a:t>versions</a:t>
            </a:r>
          </a:p>
          <a:p>
            <a:pPr lvl="1"/>
            <a:r>
              <a:rPr lang="en-US" dirty="0" smtClean="0"/>
              <a:t>Configuration file to track different </a:t>
            </a:r>
            <a:r>
              <a:rPr lang="en-US" dirty="0" smtClean="0"/>
              <a:t>versions</a:t>
            </a:r>
          </a:p>
          <a:p>
            <a:pPr lvl="1"/>
            <a:r>
              <a:rPr lang="en-US" dirty="0"/>
              <a:t>Offline file additions, deletions, and modifications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896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Peer-To-Peer Communication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TCP P2P Data Transfer</a:t>
            </a:r>
          </a:p>
          <a:p>
            <a:pPr lvl="1"/>
            <a:r>
              <a:rPr lang="en-US" dirty="0" smtClean="0"/>
              <a:t>Break data into small segments from all live </a:t>
            </a:r>
            <a:r>
              <a:rPr lang="en-US" dirty="0" smtClean="0"/>
              <a:t>peers</a:t>
            </a:r>
          </a:p>
          <a:p>
            <a:pPr lvl="1"/>
            <a:r>
              <a:rPr lang="en-US" dirty="0" smtClean="0"/>
              <a:t>Support for large files</a:t>
            </a:r>
            <a:endParaRPr lang="en-US" dirty="0" smtClean="0"/>
          </a:p>
          <a:p>
            <a:r>
              <a:rPr lang="en-US" dirty="0" smtClean="0"/>
              <a:t>Synchronization between downloading, uploading, and file monitoring</a:t>
            </a:r>
            <a:endParaRPr lang="en-US" dirty="0"/>
          </a:p>
          <a:p>
            <a:r>
              <a:rPr lang="en-US" dirty="0" smtClean="0"/>
              <a:t>Delta Updates</a:t>
            </a:r>
            <a:endParaRPr lang="en-US" dirty="0"/>
          </a:p>
          <a:p>
            <a:r>
              <a:rPr lang="en-US" dirty="0" smtClean="0"/>
              <a:t>De</a:t>
            </a:r>
            <a:r>
              <a:rPr lang="en-US" dirty="0"/>
              <a:t>/compression and de/encryption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0474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iOS</a:t>
            </a:r>
            <a:r>
              <a:rPr lang="en-US" dirty="0" smtClean="0"/>
              <a:t> Application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457200" y="2214562"/>
            <a:ext cx="3069492" cy="4291745"/>
          </a:xfrm>
        </p:spPr>
        <p:txBody>
          <a:bodyPr/>
          <a:lstStyle/>
          <a:p>
            <a:r>
              <a:rPr lang="en-US" dirty="0" smtClean="0"/>
              <a:t>Objective-C and C</a:t>
            </a:r>
          </a:p>
          <a:p>
            <a:r>
              <a:rPr lang="en-US" dirty="0" smtClean="0"/>
              <a:t>File list updates from tracker</a:t>
            </a:r>
          </a:p>
          <a:p>
            <a:r>
              <a:rPr lang="en-US" dirty="0" smtClean="0"/>
              <a:t>P2P file download</a:t>
            </a:r>
          </a:p>
          <a:p>
            <a:r>
              <a:rPr lang="en-US" dirty="0" smtClean="0"/>
              <a:t>File preview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3888694" y="2305364"/>
            <a:ext cx="2282337" cy="4051150"/>
            <a:chOff x="3869740" y="2149056"/>
            <a:chExt cx="2282337" cy="4051150"/>
          </a:xfrm>
        </p:grpSpPr>
        <p:sp>
          <p:nvSpPr>
            <p:cNvPr id="8" name="Rectangle 7"/>
            <p:cNvSpPr/>
            <p:nvPr/>
          </p:nvSpPr>
          <p:spPr>
            <a:xfrm>
              <a:off x="3888694" y="2149056"/>
              <a:ext cx="2244429" cy="4051150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bg1"/>
              </a:solidFill>
            </a:ln>
            <a:effectLst>
              <a:glow rad="101600">
                <a:schemeClr val="accent5">
                  <a:satMod val="175000"/>
                  <a:alpha val="40000"/>
                </a:schemeClr>
              </a:glow>
              <a:innerShdw blurRad="190500" dist="63500" dir="5400000">
                <a:srgbClr val="FFFFFF">
                  <a:alpha val="6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69740" y="2149056"/>
              <a:ext cx="2282337" cy="4051149"/>
            </a:xfrm>
            <a:prstGeom prst="rect">
              <a:avLst/>
            </a:prstGeom>
          </p:spPr>
        </p:pic>
      </p:grpSp>
      <p:grpSp>
        <p:nvGrpSpPr>
          <p:cNvPr id="10" name="Group 9"/>
          <p:cNvGrpSpPr/>
          <p:nvPr/>
        </p:nvGrpSpPr>
        <p:grpSpPr>
          <a:xfrm>
            <a:off x="6560978" y="2305360"/>
            <a:ext cx="2282338" cy="4051153"/>
            <a:chOff x="6542024" y="2149052"/>
            <a:chExt cx="2282338" cy="4051153"/>
          </a:xfrm>
        </p:grpSpPr>
        <p:sp>
          <p:nvSpPr>
            <p:cNvPr id="11" name="Rectangle 10"/>
            <p:cNvSpPr/>
            <p:nvPr/>
          </p:nvSpPr>
          <p:spPr>
            <a:xfrm>
              <a:off x="6558047" y="2149052"/>
              <a:ext cx="2234725" cy="4051153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bg1"/>
              </a:solidFill>
            </a:ln>
            <a:effectLst>
              <a:glow rad="101600">
                <a:schemeClr val="accent5">
                  <a:satMod val="175000"/>
                  <a:alpha val="40000"/>
                </a:schemeClr>
              </a:glow>
              <a:innerShdw blurRad="190500" dist="63500" dir="5400000">
                <a:srgbClr val="FFFFFF">
                  <a:alpha val="6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42024" y="2149053"/>
              <a:ext cx="2282338" cy="40511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919137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Android Application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Can access and download shared files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6722770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Analytics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Ruby on Rails web application utilizing HTML, CSS, JavaScript, </a:t>
            </a:r>
            <a:r>
              <a:rPr lang="en-US" dirty="0" err="1" smtClean="0"/>
              <a:t>JQuery</a:t>
            </a:r>
            <a:endParaRPr lang="en-US" dirty="0" smtClean="0"/>
          </a:p>
          <a:p>
            <a:r>
              <a:rPr lang="en-US" dirty="0" smtClean="0"/>
              <a:t>Display the local peer’s file activity and status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462" y="3661507"/>
            <a:ext cx="4669691" cy="2771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93727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Structures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Peer/Tracker Communication and </a:t>
            </a:r>
            <a:r>
              <a:rPr lang="en-US" dirty="0" smtClean="0"/>
              <a:t>Monitoring</a:t>
            </a:r>
          </a:p>
          <a:p>
            <a:pPr lvl="1"/>
            <a:r>
              <a:rPr lang="en-US" dirty="0" err="1"/>
              <a:t>ptp_peer_t</a:t>
            </a:r>
            <a:r>
              <a:rPr lang="en-US" dirty="0"/>
              <a:t> </a:t>
            </a:r>
            <a:endParaRPr lang="en-US" dirty="0" smtClean="0"/>
          </a:p>
          <a:p>
            <a:pPr lvl="1"/>
            <a:r>
              <a:rPr lang="en-US" dirty="0" err="1"/>
              <a:t>ptp_tracker_t</a:t>
            </a:r>
            <a:r>
              <a:rPr lang="en-US" dirty="0"/>
              <a:t> </a:t>
            </a:r>
            <a:endParaRPr lang="en-US" dirty="0" smtClean="0"/>
          </a:p>
          <a:p>
            <a:pPr lvl="1"/>
            <a:r>
              <a:rPr lang="en-US" dirty="0" err="1"/>
              <a:t>peer_side_peer_t</a:t>
            </a:r>
            <a:r>
              <a:rPr lang="en-US" dirty="0"/>
              <a:t> </a:t>
            </a:r>
            <a:endParaRPr lang="en-US" dirty="0" smtClean="0"/>
          </a:p>
          <a:p>
            <a:pPr lvl="1"/>
            <a:r>
              <a:rPr lang="en-US" dirty="0" err="1"/>
              <a:t>tracker_side_peer_t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/>
              <a:t>File </a:t>
            </a:r>
            <a:r>
              <a:rPr lang="en-US" dirty="0" smtClean="0"/>
              <a:t>Monitoring</a:t>
            </a:r>
          </a:p>
          <a:p>
            <a:pPr lvl="1"/>
            <a:r>
              <a:rPr lang="en-US" dirty="0" err="1" smtClean="0"/>
              <a:t>file_node_t</a:t>
            </a:r>
            <a:endParaRPr lang="en-US" dirty="0" smtClean="0"/>
          </a:p>
          <a:p>
            <a:pPr lvl="1"/>
            <a:r>
              <a:rPr lang="en-US" dirty="0" err="1"/>
              <a:t>file_name_t</a:t>
            </a:r>
            <a:r>
              <a:rPr lang="en-US" dirty="0"/>
              <a:t> </a:t>
            </a:r>
            <a:r>
              <a:rPr lang="en-US" dirty="0" smtClean="0"/>
              <a:t> </a:t>
            </a:r>
          </a:p>
          <a:p>
            <a:pPr lvl="1"/>
            <a:r>
              <a:rPr lang="en-US" dirty="0" err="1"/>
              <a:t>file_collection_t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 smtClean="0"/>
              <a:t>Sync-And-Share</a:t>
            </a:r>
          </a:p>
          <a:p>
            <a:pPr lvl="1"/>
            <a:r>
              <a:rPr lang="en-US" dirty="0" err="1"/>
              <a:t>dl_req_t</a:t>
            </a:r>
            <a:r>
              <a:rPr lang="en-US" dirty="0"/>
              <a:t> </a:t>
            </a:r>
            <a:endParaRPr lang="en-US" dirty="0" smtClean="0"/>
          </a:p>
          <a:p>
            <a:pPr lvl="1"/>
            <a:r>
              <a:rPr lang="en-US" dirty="0" err="1"/>
              <a:t>dl_arg_t</a:t>
            </a:r>
            <a:r>
              <a:rPr lang="en-US" dirty="0"/>
              <a:t> </a:t>
            </a:r>
            <a:endParaRPr lang="en-US" dirty="0" smtClean="0"/>
          </a:p>
          <a:p>
            <a:pPr lvl="1"/>
            <a:r>
              <a:rPr lang="en-US" dirty="0" err="1"/>
              <a:t>ul_resp_t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8187713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Plaza">
  <a:themeElements>
    <a:clrScheme name="Plaza">
      <a:dk1>
        <a:sysClr val="windowText" lastClr="000000"/>
      </a:dk1>
      <a:lt1>
        <a:sysClr val="window" lastClr="FFFFFF"/>
      </a:lt1>
      <a:dk2>
        <a:srgbClr val="333333"/>
      </a:dk2>
      <a:lt2>
        <a:srgbClr val="CCCCCC"/>
      </a:lt2>
      <a:accent1>
        <a:srgbClr val="990000"/>
      </a:accent1>
      <a:accent2>
        <a:srgbClr val="580101"/>
      </a:accent2>
      <a:accent3>
        <a:srgbClr val="E94A00"/>
      </a:accent3>
      <a:accent4>
        <a:srgbClr val="EB8F00"/>
      </a:accent4>
      <a:accent5>
        <a:srgbClr val="A4A4A4"/>
      </a:accent5>
      <a:accent6>
        <a:srgbClr val="666666"/>
      </a:accent6>
      <a:hlink>
        <a:srgbClr val="D01010"/>
      </a:hlink>
      <a:folHlink>
        <a:srgbClr val="E6682E"/>
      </a:folHlink>
    </a:clrScheme>
    <a:fontScheme name="Plaza">
      <a:majorFont>
        <a:latin typeface="Century Gothic"/>
        <a:ea typeface=""/>
        <a:cs typeface=""/>
        <a:font script="Jpan" typeface="メイリオ"/>
        <a:font script="Hans" typeface="宋体"/>
        <a:font script="Hant" typeface="新細明體"/>
      </a:majorFont>
      <a:minorFont>
        <a:latin typeface="Century Gothic"/>
        <a:ea typeface=""/>
        <a:cs typeface=""/>
        <a:font script="Jpan" typeface="メイリオ"/>
        <a:font script="Hans" typeface="宋体"/>
        <a:font script="Hant" typeface="新細明體"/>
      </a:minorFont>
    </a:fontScheme>
    <a:fmtScheme name="Plaza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60000"/>
                <a:satMod val="135000"/>
              </a:schemeClr>
            </a:gs>
            <a:gs pos="100000">
              <a:schemeClr val="phClr">
                <a:tint val="100000"/>
                <a:shade val="100000"/>
                <a:satMod val="13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0000"/>
                <a:satMod val="120000"/>
              </a:schemeClr>
            </a:gs>
            <a:gs pos="35000">
              <a:schemeClr val="phClr">
                <a:shade val="100000"/>
                <a:satMod val="150000"/>
              </a:schemeClr>
            </a:gs>
            <a:gs pos="70000">
              <a:schemeClr val="phClr">
                <a:tint val="100000"/>
                <a:shade val="100000"/>
                <a:satMod val="200000"/>
                <a:greenMod val="100000"/>
              </a:schemeClr>
            </a:gs>
            <a:gs pos="100000">
              <a:schemeClr val="phClr">
                <a:tint val="100000"/>
                <a:shade val="100000"/>
                <a:satMod val="250000"/>
                <a:greenMod val="100000"/>
              </a:schemeClr>
            </a:gs>
          </a:gsLst>
          <a:lin ang="162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190500" dist="63500" dir="5400000">
              <a:srgbClr val="FFFFFF">
                <a:alpha val="65000"/>
              </a:srgbClr>
            </a:innerShdw>
          </a:effectLst>
          <a:scene3d>
            <a:camera prst="orthographicFront">
              <a:rot lat="0" lon="0" rev="0"/>
            </a:camera>
            <a:lightRig rig="twoPt" dir="r">
              <a:rot lat="0" lon="0" rev="6000000"/>
            </a:lightRig>
          </a:scene3d>
          <a:sp3d prstMaterial="matte">
            <a:bevelT w="0" h="0" prst="relaxedInset"/>
          </a:sp3d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88900" dist="38100" dir="6600000" sx="101000" sy="101000" rotWithShape="0">
              <a:srgbClr val="000000">
                <a:alpha val="50000"/>
              </a:srgbClr>
            </a:outerShdw>
          </a:effectLst>
          <a:scene3d>
            <a:camera prst="perspectiveFront" fov="3000000"/>
            <a:lightRig rig="morning" dir="tl">
              <a:rot lat="0" lon="0" rev="1800000"/>
            </a:lightRig>
          </a:scene3d>
          <a:sp3d contourW="38100" prstMaterial="softEdge">
            <a:bevelT w="25400" h="38100"/>
            <a:contourClr>
              <a:schemeClr val="phClr">
                <a:tint val="6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Plaza.thmx</Template>
  <TotalTime>245</TotalTime>
  <Words>316</Words>
  <Application>Microsoft Macintosh PowerPoint</Application>
  <PresentationFormat>On-screen Show (4:3)</PresentationFormat>
  <Paragraphs>76</Paragraphs>
  <Slides>11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Plaza</vt:lpstr>
      <vt:lpstr>[“Hip”, “Hip”]</vt:lpstr>
      <vt:lpstr>DartSync Executive Summary</vt:lpstr>
      <vt:lpstr>Feature List</vt:lpstr>
      <vt:lpstr>Peer Design Synopsis</vt:lpstr>
      <vt:lpstr>Tracker Design Synopsis</vt:lpstr>
      <vt:lpstr>File Monitoring</vt:lpstr>
      <vt:lpstr>Peer-To-Peer Communication</vt:lpstr>
      <vt:lpstr>iOS Application</vt:lpstr>
      <vt:lpstr>Android Application</vt:lpstr>
      <vt:lpstr>Web Analytics</vt:lpstr>
      <vt:lpstr>Data Structures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[“Hip”, “Hip”]</dc:title>
  <dc:creator>Charles Dong</dc:creator>
  <cp:lastModifiedBy>Charles Dong</cp:lastModifiedBy>
  <cp:revision>31</cp:revision>
  <dcterms:created xsi:type="dcterms:W3CDTF">2014-05-28T05:11:10Z</dcterms:created>
  <dcterms:modified xsi:type="dcterms:W3CDTF">2014-05-28T18:24:53Z</dcterms:modified>
</cp:coreProperties>
</file>